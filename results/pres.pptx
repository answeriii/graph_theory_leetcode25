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9" r:id="rId2"/>
    <p:sldId id="282" r:id="rId3"/>
    <p:sldId id="284" r:id="rId4"/>
    <p:sldId id="285" r:id="rId5"/>
    <p:sldId id="286" r:id="rId6"/>
    <p:sldId id="287" r:id="rId7"/>
    <p:sldId id="288" r:id="rId8"/>
    <p:sldId id="280" r:id="rId9"/>
    <p:sldId id="289" r:id="rId10"/>
    <p:sldId id="292" r:id="rId11"/>
    <p:sldId id="290" r:id="rId12"/>
    <p:sldId id="293" r:id="rId13"/>
    <p:sldId id="294" r:id="rId14"/>
    <p:sldId id="295" r:id="rId15"/>
    <p:sldId id="296" r:id="rId16"/>
    <p:sldId id="291" r:id="rId17"/>
    <p:sldId id="297" r:id="rId18"/>
    <p:sldId id="298" r:id="rId19"/>
    <p:sldId id="299" r:id="rId20"/>
    <p:sldId id="300" r:id="rId21"/>
    <p:sldId id="283" r:id="rId22"/>
    <p:sldId id="281" r:id="rId23"/>
    <p:sldId id="274" r:id="rId24"/>
    <p:sldId id="259" r:id="rId25"/>
    <p:sldId id="260" r:id="rId26"/>
    <p:sldId id="263" r:id="rId27"/>
    <p:sldId id="261" r:id="rId28"/>
    <p:sldId id="264" r:id="rId29"/>
    <p:sldId id="262" r:id="rId30"/>
    <p:sldId id="265" r:id="rId31"/>
    <p:sldId id="278" r:id="rId32"/>
    <p:sldId id="277" r:id="rId33"/>
    <p:sldId id="266" r:id="rId34"/>
    <p:sldId id="267" r:id="rId35"/>
    <p:sldId id="268" r:id="rId36"/>
    <p:sldId id="269" r:id="rId37"/>
    <p:sldId id="275" r:id="rId38"/>
    <p:sldId id="271" r:id="rId39"/>
    <p:sldId id="272" r:id="rId40"/>
    <p:sldId id="276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Учетная запись Майкрософт" initials="УзМ" lastIdx="1" clrIdx="0">
    <p:extLst>
      <p:ext uri="{19B8F6BF-5375-455C-9EA6-DF929625EA0E}">
        <p15:presenceInfo xmlns:p15="http://schemas.microsoft.com/office/powerpoint/2012/main" userId="16c420f34ac2e17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200" autoAdjust="0"/>
    <p:restoredTop sz="94702"/>
  </p:normalViewPr>
  <p:slideViewPr>
    <p:cSldViewPr snapToGrid="0">
      <p:cViewPr varScale="1">
        <p:scale>
          <a:sx n="117" d="100"/>
          <a:sy n="117" d="100"/>
        </p:scale>
        <p:origin x="45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5-31T02:23:34.111" idx="1">
    <p:pos x="10" y="10"/>
    <p:text/>
    <p:extLst>
      <p:ext uri="{C676402C-5697-4E1C-873F-D02D1690AC5C}">
        <p15:threadingInfo xmlns:p15="http://schemas.microsoft.com/office/powerpoint/2012/main" timeZoneBias="-18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8318D8C-2711-A077-8E6C-F13B711312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510A1419-7B4D-044E-D40B-2B70ED6161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9AF0D707-573D-52E4-1F80-BB2ABEE54E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D5CCF-EDB3-1944-BB31-7ADB8F2E1A0A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0FE333F-4018-3615-9D59-4FF4B2993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10ACCAD0-3114-AE0B-E08A-80E6E92A3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5316-5C28-D54A-945B-F45E8961C2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9882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2BA87B9-9141-397A-4B86-B2A1018E4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1E4353AA-2D0A-1068-21B5-6AB804EEE4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80D357D2-27C3-5A7F-683A-8448C19D4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D5CCF-EDB3-1944-BB31-7ADB8F2E1A0A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5F82C28C-58DE-9E5A-ECD7-C51DF5BF8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14C92359-3ED3-68AC-FCC2-B7B0A7116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5316-5C28-D54A-945B-F45E8961C2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011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6D8314C-FEC9-48DE-1056-AD8991E90C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28187400-95BA-25F3-525F-8F6615796E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2E06A0CB-5015-D6E6-9F7E-484FCE9D0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D5CCF-EDB3-1944-BB31-7ADB8F2E1A0A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339E30B1-95FE-7E84-B1D8-EF2F8132A6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BFB0F825-C239-8869-875D-7FE4BF8A2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5316-5C28-D54A-945B-F45E8961C2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1555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99D6323-440D-4E54-1DF4-0737848E5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EC501E1-2097-C039-3F48-A36152396A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4F92F21D-38E1-A84A-2DE7-A87C5D4F0E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AD524769-FABD-63FC-DD00-A4DE26D8D3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D5CCF-EDB3-1944-BB31-7ADB8F2E1A0A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A5CB6F13-D363-B59A-8358-2F56DC2BCF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02BCA711-CE1D-3D7C-2715-516B7FA7B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5316-5C28-D54A-945B-F45E8961C2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569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7D6F686-CAA4-AD35-D3C7-F2E4678AE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68FAC657-F1BF-11BF-3A1E-93D33FA5A0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16092B3F-705A-0F71-CB9B-945553B89A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1ABBDB65-3C4A-C8D8-641E-EB025F5BB6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7A434233-0573-FA0C-8C95-75B0B1554D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1E835273-D6B2-41E1-7CE2-5BD1511CC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D5CCF-EDB3-1944-BB31-7ADB8F2E1A0A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5691805B-FD5E-4226-BD93-8EB1FFB99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993007C0-C85D-D0B0-7194-A580919FE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5316-5C28-D54A-945B-F45E8961C2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72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B762AA9-98B1-2080-B846-790F46E6D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60B2B202-3729-E2E9-346B-F835B7CF7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D5CCF-EDB3-1944-BB31-7ADB8F2E1A0A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C2B90971-4602-51DD-B499-8A21DD244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FB9BA957-61E9-E5E5-36F0-F89DEE3E7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5316-5C28-D54A-945B-F45E8961C2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1902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00C11B51-8F2A-037F-9933-AD9715C0F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D5CCF-EDB3-1944-BB31-7ADB8F2E1A0A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41D02922-860C-35F4-EBC9-3F158F5DF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45BC533-F429-9DBF-A574-2BEFA68F5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5316-5C28-D54A-945B-F45E8961C2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607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D1BBE21-75A0-5E90-DA0E-B4720C7C6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285BB0A-C921-1A1A-2176-A0665C6593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1270A3F3-D0D0-B0EE-E74C-03ACC0B166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6316AF98-3303-98B6-DC2A-342AD55A9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D5CCF-EDB3-1944-BB31-7ADB8F2E1A0A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3EF1D7FB-F45E-32BC-0FB8-964E47BC9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4A1E4841-B584-4871-C153-AFE972A41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5316-5C28-D54A-945B-F45E8961C2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4909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B4AE8A9-038C-E3DD-28E8-4FF9D6F02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86C5CDF2-F754-93B1-B710-C16DA63A56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2B48E7DC-FB1D-0454-B409-E13089BD4B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DCC56A54-3965-09E0-C5CA-FC78A1FBD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D5CCF-EDB3-1944-BB31-7ADB8F2E1A0A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1A0531AA-F68F-8C6E-4617-3E1B67BBB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16B1FF3F-4C72-4D35-4EB3-AC93BCEE3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5316-5C28-D54A-945B-F45E8961C2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3311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3E41AFA-5E9D-FCE9-0671-28BA77C5A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AF1E3DEF-34D5-3D67-EEF0-50DBCDBDDB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0F41F2B-6FD5-55EF-B8CE-E1FB7B1EC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D5CCF-EDB3-1944-BB31-7ADB8F2E1A0A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06E80C53-A967-897B-8A10-F7EC9DC85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B54060F-F944-9FAA-F497-5CC23228C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5316-5C28-D54A-945B-F45E8961C2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8173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570EAFA8-6865-7229-ADF4-DDA7FB9544A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43394958-E5CA-4F7D-D313-19A1C48E4F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C59C40DB-0560-AC9A-A9B3-AA86D3E01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D5CCF-EDB3-1944-BB31-7ADB8F2E1A0A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2CC9191E-42AE-8808-B0EC-063405A65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69D2B085-4155-69BF-EA9D-FEAB46EBE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25316-5C28-D54A-945B-F45E8961C2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7109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0C2474C2-248C-C257-126D-62C0FC972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780C2BF9-2CFE-1E8E-FE9C-E1F7DF49E3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3ABBBF39-B1AF-1988-B84C-BB7C46CAC0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4D5CCF-EDB3-1944-BB31-7ADB8F2E1A0A}" type="datetimeFigureOut">
              <a:rPr lang="en-US" smtClean="0"/>
              <a:t>5/31/2025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90177C19-2367-79A0-241D-58ADB7342B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A3D310DE-6D0C-FD47-9FFA-152A0DEB93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25316-5C28-D54A-945B-F45E8961C2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221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ctrTitle"/>
          </p:nvPr>
        </p:nvSpPr>
        <p:spPr>
          <a:xfrm>
            <a:off x="662940" y="1102769"/>
            <a:ext cx="10866120" cy="2387600"/>
          </a:xfrm>
        </p:spPr>
        <p:txBody>
          <a:bodyPr>
            <a:normAutofit fontScale="90000"/>
          </a:bodyPr>
          <a:lstStyle/>
          <a:p>
            <a:r>
              <a:rPr lang="ru-RU" dirty="0"/>
              <a:t>“Теория графов и ее приложения” </a:t>
            </a:r>
            <a:br>
              <a:rPr lang="ru-RU" dirty="0"/>
            </a:br>
            <a:r>
              <a:rPr lang="ru-RU" dirty="0"/>
              <a:t>Командный проект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>
          <a:xfrm>
            <a:off x="10256520" y="5202238"/>
            <a:ext cx="1935480" cy="1655762"/>
          </a:xfrm>
        </p:spPr>
        <p:txBody>
          <a:bodyPr>
            <a:normAutofit/>
          </a:bodyPr>
          <a:lstStyle/>
          <a:p>
            <a:pPr algn="r"/>
            <a:r>
              <a:rPr lang="ru-RU" sz="1800" dirty="0" smtClean="0"/>
              <a:t>Выполнили</a:t>
            </a:r>
            <a:r>
              <a:rPr lang="en-US" sz="1800" dirty="0" smtClean="0"/>
              <a:t>:</a:t>
            </a:r>
          </a:p>
          <a:p>
            <a:pPr algn="r"/>
            <a:r>
              <a:rPr lang="ru-RU" sz="1800" dirty="0" smtClean="0"/>
              <a:t>Плетка Даниил</a:t>
            </a:r>
          </a:p>
          <a:p>
            <a:pPr algn="r"/>
            <a:r>
              <a:rPr lang="ru-RU" sz="1800" dirty="0" smtClean="0"/>
              <a:t>Михайлов Данил</a:t>
            </a:r>
            <a:endParaRPr lang="ru-RU" sz="1800" dirty="0"/>
          </a:p>
        </p:txBody>
      </p:sp>
      <p:sp>
        <p:nvSpPr>
          <p:cNvPr id="5" name="TextBox 4"/>
          <p:cNvSpPr txBox="1"/>
          <p:nvPr/>
        </p:nvSpPr>
        <p:spPr>
          <a:xfrm>
            <a:off x="4907280" y="6273225"/>
            <a:ext cx="23774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 smtClean="0"/>
              <a:t>Санкт-Петербург</a:t>
            </a:r>
          </a:p>
          <a:p>
            <a:pPr algn="ctr"/>
            <a:r>
              <a:rPr lang="ru-RU" sz="1600" dirty="0" smtClean="0"/>
              <a:t>2025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42532314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9265" y="2806586"/>
            <a:ext cx="2095792" cy="2276793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11629" y="416933"/>
            <a:ext cx="10515600" cy="1325563"/>
          </a:xfrm>
        </p:spPr>
        <p:txBody>
          <a:bodyPr/>
          <a:lstStyle/>
          <a:p>
            <a:r>
              <a:rPr lang="en-US" dirty="0" smtClean="0"/>
              <a:t>test_graph.txt</a:t>
            </a:r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852" y="3169018"/>
            <a:ext cx="3559628" cy="327841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474" y="2586493"/>
            <a:ext cx="1362265" cy="126700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173" y="1103811"/>
            <a:ext cx="1724297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1     </a:t>
            </a:r>
            <a:r>
              <a:rPr lang="ru-RU" dirty="0"/>
              <a:t>2</a:t>
            </a:r>
          </a:p>
          <a:p>
            <a:r>
              <a:rPr lang="ru-RU" dirty="0" smtClean="0"/>
              <a:t>2     </a:t>
            </a:r>
            <a:r>
              <a:rPr lang="ru-RU" dirty="0"/>
              <a:t>3</a:t>
            </a:r>
          </a:p>
          <a:p>
            <a:r>
              <a:rPr lang="ru-RU" dirty="0"/>
              <a:t>3 </a:t>
            </a:r>
            <a:r>
              <a:rPr lang="ru-RU" dirty="0" smtClean="0"/>
              <a:t>    4</a:t>
            </a:r>
            <a:endParaRPr lang="ru-RU" dirty="0"/>
          </a:p>
          <a:p>
            <a:r>
              <a:rPr lang="ru-RU" dirty="0" smtClean="0"/>
              <a:t>4     </a:t>
            </a:r>
            <a:r>
              <a:rPr lang="ru-RU" dirty="0"/>
              <a:t>2</a:t>
            </a:r>
          </a:p>
          <a:p>
            <a:r>
              <a:rPr lang="ru-RU" dirty="0"/>
              <a:t>3 </a:t>
            </a:r>
            <a:r>
              <a:rPr lang="ru-RU" dirty="0" smtClean="0"/>
              <a:t>    5</a:t>
            </a:r>
            <a:endParaRPr lang="ru-RU" dirty="0"/>
          </a:p>
          <a:p>
            <a:r>
              <a:rPr lang="ru-RU" dirty="0"/>
              <a:t>5 </a:t>
            </a:r>
            <a:r>
              <a:rPr lang="ru-RU" dirty="0" smtClean="0"/>
              <a:t>    1</a:t>
            </a:r>
            <a:endParaRPr lang="ru-RU" dirty="0"/>
          </a:p>
          <a:p>
            <a:r>
              <a:rPr lang="ru-RU" dirty="0"/>
              <a:t>6 </a:t>
            </a:r>
            <a:r>
              <a:rPr lang="ru-RU" dirty="0" smtClean="0"/>
              <a:t>    7</a:t>
            </a:r>
            <a:endParaRPr lang="ru-RU" dirty="0"/>
          </a:p>
          <a:p>
            <a:r>
              <a:rPr lang="ru-RU" dirty="0"/>
              <a:t>7 </a:t>
            </a:r>
            <a:r>
              <a:rPr lang="ru-RU" dirty="0" smtClean="0"/>
              <a:t>    8</a:t>
            </a:r>
            <a:endParaRPr lang="ru-RU" dirty="0"/>
          </a:p>
          <a:p>
            <a:r>
              <a:rPr lang="ru-RU" dirty="0" smtClean="0"/>
              <a:t>8     </a:t>
            </a:r>
            <a:r>
              <a:rPr lang="ru-RU" dirty="0"/>
              <a:t>9</a:t>
            </a:r>
          </a:p>
          <a:p>
            <a:r>
              <a:rPr lang="ru-RU" dirty="0"/>
              <a:t>9 </a:t>
            </a:r>
            <a:r>
              <a:rPr lang="ru-RU" dirty="0" smtClean="0"/>
              <a:t>    6</a:t>
            </a:r>
            <a:endParaRPr lang="ru-RU" dirty="0"/>
          </a:p>
          <a:p>
            <a:r>
              <a:rPr lang="ru-RU" dirty="0"/>
              <a:t>7 </a:t>
            </a:r>
            <a:r>
              <a:rPr lang="ru-RU" dirty="0" smtClean="0"/>
              <a:t>    10</a:t>
            </a:r>
            <a:endParaRPr lang="ru-RU" dirty="0"/>
          </a:p>
          <a:p>
            <a:r>
              <a:rPr lang="ru-RU" dirty="0"/>
              <a:t>11 </a:t>
            </a:r>
            <a:r>
              <a:rPr lang="ru-RU" dirty="0" smtClean="0"/>
              <a:t>  12</a:t>
            </a:r>
            <a:endParaRPr lang="ru-RU" dirty="0"/>
          </a:p>
          <a:p>
            <a:r>
              <a:rPr lang="ru-RU" dirty="0"/>
              <a:t>12 </a:t>
            </a:r>
            <a:r>
              <a:rPr lang="ru-RU" dirty="0" smtClean="0"/>
              <a:t>  13</a:t>
            </a:r>
            <a:endParaRPr lang="ru-RU" dirty="0"/>
          </a:p>
          <a:p>
            <a:r>
              <a:rPr lang="ru-RU" dirty="0"/>
              <a:t>14 </a:t>
            </a:r>
            <a:r>
              <a:rPr lang="ru-RU" dirty="0" smtClean="0"/>
              <a:t>  14</a:t>
            </a:r>
            <a:endParaRPr lang="ru-RU" dirty="0"/>
          </a:p>
          <a:p>
            <a:r>
              <a:rPr lang="ru-RU" dirty="0"/>
              <a:t>6 </a:t>
            </a:r>
            <a:r>
              <a:rPr lang="ru-RU" dirty="0" smtClean="0"/>
              <a:t>    11</a:t>
            </a:r>
            <a:endParaRPr lang="ru-RU" dirty="0"/>
          </a:p>
          <a:p>
            <a:r>
              <a:rPr lang="ru-RU" dirty="0"/>
              <a:t>10 </a:t>
            </a:r>
            <a:r>
              <a:rPr lang="ru-RU" dirty="0" smtClean="0"/>
              <a:t>  12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462616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35725" y="84273"/>
            <a:ext cx="10515600" cy="1325563"/>
          </a:xfrm>
        </p:spPr>
        <p:txBody>
          <a:bodyPr/>
          <a:lstStyle/>
          <a:p>
            <a:r>
              <a:rPr lang="ru-RU" dirty="0" smtClean="0"/>
              <a:t>Загрузка данных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8800" y="1221377"/>
            <a:ext cx="4769450" cy="5329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60947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126" y="149588"/>
            <a:ext cx="10515600" cy="1325563"/>
          </a:xfrm>
        </p:spPr>
        <p:txBody>
          <a:bodyPr/>
          <a:lstStyle/>
          <a:p>
            <a:r>
              <a:rPr lang="ru-RU" dirty="0"/>
              <a:t>Анализ структуры сети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15" y="1418500"/>
            <a:ext cx="6355080" cy="3582492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b="69832"/>
          <a:stretch/>
        </p:blipFill>
        <p:spPr>
          <a:xfrm>
            <a:off x="65315" y="5085899"/>
            <a:ext cx="6354537" cy="1210397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6114" y="78377"/>
            <a:ext cx="5725886" cy="3410195"/>
          </a:xfrm>
          <a:prstGeom prst="rect">
            <a:avLst/>
          </a:prstGeom>
        </p:spPr>
      </p:pic>
      <p:sp>
        <p:nvSpPr>
          <p:cNvPr id="7" name="Заголовок 1"/>
          <p:cNvSpPr txBox="1">
            <a:spLocks/>
          </p:cNvSpPr>
          <p:nvPr/>
        </p:nvSpPr>
        <p:spPr>
          <a:xfrm>
            <a:off x="6607629" y="3355706"/>
            <a:ext cx="226205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600" dirty="0" smtClean="0"/>
              <a:t>Часть 1</a:t>
            </a:r>
            <a:endParaRPr lang="ru-RU" sz="3600" dirty="0"/>
          </a:p>
        </p:txBody>
      </p:sp>
    </p:spTree>
    <p:extLst>
      <p:ext uri="{BB962C8B-B14F-4D97-AF65-F5344CB8AC3E}">
        <p14:creationId xmlns:p14="http://schemas.microsoft.com/office/powerpoint/2010/main" val="9179979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37342" y="849085"/>
            <a:ext cx="3122052" cy="1325563"/>
          </a:xfrm>
        </p:spPr>
        <p:txBody>
          <a:bodyPr>
            <a:normAutofit fontScale="90000"/>
          </a:bodyPr>
          <a:lstStyle/>
          <a:p>
            <a:r>
              <a:rPr lang="ru-RU" dirty="0"/>
              <a:t>Анализ структуры сети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342" y="4450325"/>
            <a:ext cx="7259063" cy="215295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9544" y="136525"/>
            <a:ext cx="6516202" cy="4076246"/>
          </a:xfrm>
          <a:prstGeom prst="rect">
            <a:avLst/>
          </a:prstGeom>
        </p:spPr>
      </p:pic>
      <p:sp>
        <p:nvSpPr>
          <p:cNvPr id="9" name="Заголовок 1"/>
          <p:cNvSpPr txBox="1">
            <a:spLocks/>
          </p:cNvSpPr>
          <p:nvPr/>
        </p:nvSpPr>
        <p:spPr>
          <a:xfrm>
            <a:off x="437342" y="3124762"/>
            <a:ext cx="226205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600" dirty="0" smtClean="0"/>
              <a:t>Часть </a:t>
            </a:r>
            <a:r>
              <a:rPr lang="en-US" sz="3600" dirty="0" smtClean="0"/>
              <a:t>2.1</a:t>
            </a:r>
            <a:endParaRPr lang="ru-RU" sz="3600" dirty="0"/>
          </a:p>
        </p:txBody>
      </p:sp>
    </p:spTree>
    <p:extLst>
      <p:ext uri="{BB962C8B-B14F-4D97-AF65-F5344CB8AC3E}">
        <p14:creationId xmlns:p14="http://schemas.microsoft.com/office/powerpoint/2010/main" val="4106301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289" y="3193645"/>
            <a:ext cx="11031489" cy="3200847"/>
          </a:xfrm>
          <a:prstGeom prst="rect">
            <a:avLst/>
          </a:prstGeom>
        </p:spPr>
      </p:pic>
      <p:sp>
        <p:nvSpPr>
          <p:cNvPr id="5" name="Заголовок 1"/>
          <p:cNvSpPr txBox="1">
            <a:spLocks/>
          </p:cNvSpPr>
          <p:nvPr/>
        </p:nvSpPr>
        <p:spPr>
          <a:xfrm>
            <a:off x="767442" y="1594769"/>
            <a:ext cx="418768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200" dirty="0" err="1" smtClean="0"/>
              <a:t>Процентиль</a:t>
            </a:r>
            <a:r>
              <a:rPr lang="ru-RU" sz="3200" dirty="0" smtClean="0"/>
              <a:t> расстояния </a:t>
            </a:r>
            <a:r>
              <a:rPr lang="ru-RU" sz="3200" dirty="0"/>
              <a:t>между вершинами </a:t>
            </a:r>
            <a:r>
              <a:rPr lang="ru-RU" sz="3200" dirty="0" smtClean="0"/>
              <a:t>графа</a:t>
            </a:r>
            <a:r>
              <a:rPr lang="en-US" sz="3200" dirty="0" smtClean="0"/>
              <a:t>:</a:t>
            </a:r>
            <a:endParaRPr lang="ru-RU" sz="3200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2201" y="0"/>
            <a:ext cx="6439799" cy="172426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9487" y="2182439"/>
            <a:ext cx="7372513" cy="763857"/>
          </a:xfrm>
          <a:prstGeom prst="rect">
            <a:avLst/>
          </a:prstGeom>
        </p:spPr>
      </p:pic>
      <p:sp>
        <p:nvSpPr>
          <p:cNvPr id="8" name="Заголовок 1"/>
          <p:cNvSpPr>
            <a:spLocks noGrp="1"/>
          </p:cNvSpPr>
          <p:nvPr>
            <p:ph type="title"/>
          </p:nvPr>
        </p:nvSpPr>
        <p:spPr>
          <a:xfrm>
            <a:off x="0" y="70420"/>
            <a:ext cx="5722575" cy="1325563"/>
          </a:xfrm>
        </p:spPr>
        <p:txBody>
          <a:bodyPr>
            <a:normAutofit/>
          </a:bodyPr>
          <a:lstStyle/>
          <a:p>
            <a:r>
              <a:rPr lang="ru-RU" dirty="0"/>
              <a:t>Анализ структуры сети</a:t>
            </a:r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225100" y="1000521"/>
            <a:ext cx="1793377" cy="684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600" dirty="0" smtClean="0"/>
              <a:t>Часть </a:t>
            </a:r>
            <a:r>
              <a:rPr lang="en-US" sz="3600" dirty="0" smtClean="0"/>
              <a:t>2.</a:t>
            </a:r>
            <a:r>
              <a:rPr lang="ru-RU" sz="3600" dirty="0" smtClean="0"/>
              <a:t>2</a:t>
            </a:r>
            <a:endParaRPr lang="ru-RU" sz="3600" dirty="0"/>
          </a:p>
        </p:txBody>
      </p:sp>
    </p:spTree>
    <p:extLst>
      <p:ext uri="{BB962C8B-B14F-4D97-AF65-F5344CB8AC3E}">
        <p14:creationId xmlns:p14="http://schemas.microsoft.com/office/powerpoint/2010/main" val="14667150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6107187" y="170526"/>
            <a:ext cx="572257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 smtClean="0"/>
              <a:t>Анализ структуры сети</a:t>
            </a:r>
            <a:endParaRPr lang="ru-RU" dirty="0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7837448" y="1256773"/>
            <a:ext cx="226205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600" dirty="0" smtClean="0"/>
              <a:t>Часть </a:t>
            </a:r>
            <a:r>
              <a:rPr lang="en-US" sz="3600" dirty="0" smtClean="0"/>
              <a:t>2.</a:t>
            </a:r>
            <a:r>
              <a:rPr lang="ru-RU" sz="3600" dirty="0"/>
              <a:t>3</a:t>
            </a:r>
            <a:endParaRPr lang="ru-RU" sz="3600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5277394" cy="3040332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6849" y="2992178"/>
            <a:ext cx="7785151" cy="3865822"/>
          </a:xfrm>
          <a:prstGeom prst="rect">
            <a:avLst/>
          </a:prstGeom>
        </p:spPr>
      </p:pic>
      <p:sp>
        <p:nvSpPr>
          <p:cNvPr id="8" name="Прямоугольник 7"/>
          <p:cNvSpPr/>
          <p:nvPr/>
        </p:nvSpPr>
        <p:spPr>
          <a:xfrm>
            <a:off x="93618" y="3530603"/>
            <a:ext cx="4219615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err="1" smtClean="0"/>
              <a:t>S</a:t>
            </a:r>
            <a:r>
              <a:rPr lang="ru-RU" dirty="0" err="1" smtClean="0"/>
              <a:t>nowball</a:t>
            </a:r>
            <a:r>
              <a:rPr lang="ru-RU" dirty="0" smtClean="0"/>
              <a:t> </a:t>
            </a:r>
            <a:r>
              <a:rPr lang="en-US" dirty="0" err="1"/>
              <a:t>S</a:t>
            </a:r>
            <a:r>
              <a:rPr lang="ru-RU" dirty="0" err="1" smtClean="0"/>
              <a:t>ample</a:t>
            </a:r>
            <a:r>
              <a:rPr lang="ru-RU" dirty="0" smtClean="0"/>
              <a:t>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выбирается 2 смежные вершины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затем </a:t>
            </a:r>
            <a:r>
              <a:rPr lang="ru-RU" dirty="0"/>
              <a:t>в граф добавляются все их </a:t>
            </a:r>
            <a:r>
              <a:rPr lang="ru-RU" dirty="0" smtClean="0"/>
              <a:t>соседи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затем </a:t>
            </a:r>
            <a:r>
              <a:rPr lang="ru-RU" dirty="0"/>
              <a:t>соседи соседей и т.д</a:t>
            </a:r>
            <a:r>
              <a:rPr lang="ru-RU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/>
          </a:p>
          <a:p>
            <a:r>
              <a:rPr lang="ru-RU" dirty="0" smtClean="0"/>
              <a:t>В нашем случае остановка происходит на 500 значении</a:t>
            </a:r>
          </a:p>
        </p:txBody>
      </p:sp>
    </p:spTree>
    <p:extLst>
      <p:ext uri="{BB962C8B-B14F-4D97-AF65-F5344CB8AC3E}">
        <p14:creationId xmlns:p14="http://schemas.microsoft.com/office/powerpoint/2010/main" val="16433985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80739" y="613320"/>
            <a:ext cx="5588726" cy="1325563"/>
          </a:xfrm>
        </p:spPr>
        <p:txBody>
          <a:bodyPr>
            <a:normAutofit fontScale="90000"/>
          </a:bodyPr>
          <a:lstStyle/>
          <a:p>
            <a:r>
              <a:rPr lang="ru-RU" sz="4000" dirty="0" smtClean="0"/>
              <a:t>Средний </a:t>
            </a:r>
            <a:r>
              <a:rPr lang="ru-RU" sz="4000" dirty="0"/>
              <a:t>и глобальный кластерные коэффициенты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618" y="1828739"/>
            <a:ext cx="3027484" cy="1618777"/>
          </a:xfrm>
          <a:prstGeom prst="rect">
            <a:avLst/>
          </a:prstGeom>
        </p:spPr>
      </p:pic>
      <p:sp>
        <p:nvSpPr>
          <p:cNvPr id="8" name="Прямоугольник 7"/>
          <p:cNvSpPr/>
          <p:nvPr/>
        </p:nvSpPr>
        <p:spPr>
          <a:xfrm>
            <a:off x="7240470" y="613320"/>
            <a:ext cx="4167759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Локальный кластерный коэффициент (узла) </a:t>
            </a:r>
            <a:r>
              <a:rPr lang="ru-RU" dirty="0" smtClean="0"/>
              <a:t>— </a:t>
            </a:r>
            <a:r>
              <a:rPr lang="ru-RU" dirty="0"/>
              <a:t>доля соседей узла, соединенных ребром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0470" y="1590625"/>
            <a:ext cx="2829320" cy="914528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7155774" y="2638128"/>
            <a:ext cx="433714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k_</a:t>
            </a:r>
            <a:r>
              <a:rPr lang="ru-RU" dirty="0" smtClean="0"/>
              <a:t>i </a:t>
            </a:r>
            <a:r>
              <a:rPr lang="ru-RU" dirty="0"/>
              <a:t>— степень </a:t>
            </a:r>
            <a:r>
              <a:rPr lang="ru-RU" dirty="0" smtClean="0"/>
              <a:t>узла</a:t>
            </a:r>
            <a:endParaRPr lang="en-US" dirty="0" smtClean="0"/>
          </a:p>
          <a:p>
            <a:r>
              <a:rPr lang="ru-RU" dirty="0" err="1" smtClean="0"/>
              <a:t>L_i</a:t>
            </a:r>
            <a:r>
              <a:rPr lang="ru-RU" dirty="0" smtClean="0"/>
              <a:t> </a:t>
            </a:r>
            <a:r>
              <a:rPr lang="ru-RU" dirty="0"/>
              <a:t>— число связей между соседями узла i</a:t>
            </a:r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739" y="3720572"/>
            <a:ext cx="7085027" cy="730535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739" y="4938652"/>
            <a:ext cx="6088109" cy="933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851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61406" y="208371"/>
            <a:ext cx="6365965" cy="1325563"/>
          </a:xfrm>
        </p:spPr>
        <p:txBody>
          <a:bodyPr/>
          <a:lstStyle/>
          <a:p>
            <a:r>
              <a:rPr lang="ru-RU" dirty="0"/>
              <a:t>Анализ структуры сети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406" y="1477107"/>
            <a:ext cx="7525800" cy="3172268"/>
          </a:xfrm>
          <a:prstGeom prst="rect">
            <a:avLst/>
          </a:prstGeom>
        </p:spPr>
      </p:pic>
      <p:sp>
        <p:nvSpPr>
          <p:cNvPr id="5" name="Заголовок 1"/>
          <p:cNvSpPr txBox="1">
            <a:spLocks/>
          </p:cNvSpPr>
          <p:nvPr/>
        </p:nvSpPr>
        <p:spPr>
          <a:xfrm>
            <a:off x="6727371" y="185855"/>
            <a:ext cx="467352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600" dirty="0" smtClean="0"/>
              <a:t>Часть 3</a:t>
            </a: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2779" y="5126246"/>
            <a:ext cx="4134427" cy="1543265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9301" y="1346478"/>
            <a:ext cx="3967939" cy="4007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53950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структуры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Находим наибольшую компоненту </a:t>
            </a:r>
            <a:r>
              <a:rPr lang="ru-RU" dirty="0"/>
              <a:t>слабой </a:t>
            </a:r>
            <a:r>
              <a:rPr lang="ru-RU" dirty="0" smtClean="0"/>
              <a:t>связности</a:t>
            </a:r>
          </a:p>
          <a:p>
            <a:r>
              <a:rPr lang="ru-RU" dirty="0" smtClean="0"/>
              <a:t>Считаем величины опираясь на 3 часть</a:t>
            </a:r>
            <a:endParaRPr lang="ru-RU" dirty="0"/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7080068" y="365125"/>
            <a:ext cx="467352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600" dirty="0" smtClean="0"/>
              <a:t>Часть 4</a:t>
            </a:r>
          </a:p>
        </p:txBody>
      </p:sp>
    </p:spTree>
    <p:extLst>
      <p:ext uri="{BB962C8B-B14F-4D97-AF65-F5344CB8AC3E}">
        <p14:creationId xmlns:p14="http://schemas.microsoft.com/office/powerpoint/2010/main" val="42400466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9377" y="208371"/>
            <a:ext cx="10515600" cy="1325563"/>
          </a:xfrm>
        </p:spPr>
        <p:txBody>
          <a:bodyPr/>
          <a:lstStyle/>
          <a:p>
            <a:r>
              <a:rPr lang="ru-RU" dirty="0"/>
              <a:t>Анализ структуры сети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81" y="1551933"/>
            <a:ext cx="6363588" cy="4001058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9881" y="3344091"/>
            <a:ext cx="5614568" cy="3332223"/>
          </a:xfrm>
          <a:prstGeom prst="rect">
            <a:avLst/>
          </a:prstGeom>
        </p:spPr>
      </p:pic>
      <p:sp>
        <p:nvSpPr>
          <p:cNvPr id="9" name="Заголовок 1"/>
          <p:cNvSpPr txBox="1">
            <a:spLocks/>
          </p:cNvSpPr>
          <p:nvPr/>
        </p:nvSpPr>
        <p:spPr>
          <a:xfrm>
            <a:off x="10218129" y="0"/>
            <a:ext cx="2041363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600" dirty="0" smtClean="0"/>
              <a:t>Часть 5</a:t>
            </a:r>
            <a:endParaRPr lang="ru-RU" sz="3600" dirty="0"/>
          </a:p>
        </p:txBody>
      </p:sp>
      <p:sp>
        <p:nvSpPr>
          <p:cNvPr id="10" name="TextBox 9"/>
          <p:cNvSpPr txBox="1"/>
          <p:nvPr/>
        </p:nvSpPr>
        <p:spPr>
          <a:xfrm>
            <a:off x="8530045" y="1685109"/>
            <a:ext cx="350737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Хотим получить что-то такое</a:t>
            </a:r>
            <a:r>
              <a:rPr lang="en-US" dirty="0" smtClean="0"/>
              <a:t>:</a:t>
            </a:r>
            <a:endParaRPr lang="ru-RU" dirty="0" smtClean="0"/>
          </a:p>
          <a:p>
            <a:endParaRPr lang="ru-RU" dirty="0"/>
          </a:p>
          <a:p>
            <a:r>
              <a:rPr lang="en-US" dirty="0" err="1"/>
              <a:t>degree_counts</a:t>
            </a:r>
            <a:r>
              <a:rPr lang="en-US" dirty="0"/>
              <a:t> == {2: 2, 3: 2, 1: 1</a:t>
            </a:r>
            <a:r>
              <a:rPr lang="en-US" dirty="0" smtClean="0"/>
              <a:t>}</a:t>
            </a:r>
            <a:endParaRPr lang="ru-RU" dirty="0" smtClean="0"/>
          </a:p>
          <a:p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2 вершины имеют степень </a:t>
            </a:r>
            <a:r>
              <a:rPr lang="ru-RU" dirty="0" smtClean="0"/>
              <a:t>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2 вершины имеют</a:t>
            </a:r>
            <a:r>
              <a:rPr lang="ru-RU" dirty="0" smtClean="0"/>
              <a:t> </a:t>
            </a:r>
            <a:r>
              <a:rPr lang="ru-RU" dirty="0"/>
              <a:t>степень </a:t>
            </a:r>
            <a:r>
              <a:rPr lang="ru-RU" dirty="0" smtClean="0"/>
              <a:t>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1 вершина имеют</a:t>
            </a:r>
            <a:r>
              <a:rPr lang="ru-RU" dirty="0" smtClean="0"/>
              <a:t> </a:t>
            </a:r>
            <a:r>
              <a:rPr lang="ru-RU" dirty="0"/>
              <a:t>степень 1</a:t>
            </a:r>
          </a:p>
        </p:txBody>
      </p:sp>
    </p:spTree>
    <p:extLst>
      <p:ext uri="{BB962C8B-B14F-4D97-AF65-F5344CB8AC3E}">
        <p14:creationId xmlns:p14="http://schemas.microsoft.com/office/powerpoint/2010/main" val="19586422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test_graph.txt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1287"/>
          <a:stretch/>
        </p:blipFill>
        <p:spPr>
          <a:xfrm>
            <a:off x="838200" y="2400390"/>
            <a:ext cx="9849944" cy="4351338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0675" y="0"/>
            <a:ext cx="3531326" cy="2450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14736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CA-AstroPh.txt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69154"/>
            <a:ext cx="9731829" cy="4314174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448" y="0"/>
            <a:ext cx="3736552" cy="2690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9413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Email-EuAll.txt</a:t>
            </a:r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64033"/>
            <a:ext cx="9829800" cy="4393967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6617" y="0"/>
            <a:ext cx="3335383" cy="2636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09212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3237411" cy="1325563"/>
          </a:xfrm>
        </p:spPr>
        <p:txBody>
          <a:bodyPr/>
          <a:lstStyle/>
          <a:p>
            <a:r>
              <a:rPr lang="en-US" dirty="0"/>
              <a:t>CA-GrQc.txt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2990280"/>
            <a:ext cx="8432074" cy="386772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6901" y="0"/>
            <a:ext cx="4225099" cy="3165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9086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структуры сети</a:t>
            </a:r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10218129" y="0"/>
            <a:ext cx="2041363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600" dirty="0" smtClean="0"/>
              <a:t>Часть В</a:t>
            </a:r>
            <a:endParaRPr lang="ru-RU" sz="3600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949" y="2523030"/>
            <a:ext cx="10879182" cy="39472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8200" y="1922193"/>
            <a:ext cx="77767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Например, можно задать </a:t>
            </a:r>
            <a:r>
              <a:rPr lang="en-US" dirty="0" err="1" smtClean="0"/>
              <a:t>x_values</a:t>
            </a:r>
            <a:r>
              <a:rPr lang="ru-RU" dirty="0"/>
              <a:t> </a:t>
            </a:r>
            <a:r>
              <a:rPr lang="ru-RU" dirty="0" smtClean="0"/>
              <a:t>следующим образом </a:t>
            </a:r>
            <a:r>
              <a:rPr lang="en-US" dirty="0" smtClean="0"/>
              <a:t>range(1</a:t>
            </a:r>
            <a:r>
              <a:rPr lang="en-US" dirty="0"/>
              <a:t>, 101, </a:t>
            </a:r>
            <a:r>
              <a:rPr lang="ru-RU" dirty="0" smtClean="0"/>
              <a:t>10</a:t>
            </a:r>
            <a:r>
              <a:rPr lang="en-US" dirty="0" smtClean="0"/>
              <a:t>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41896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test_graph.txt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9394" y="2072729"/>
            <a:ext cx="7397931" cy="4633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3377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CA-AstroPh.txt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1606" y="1795399"/>
            <a:ext cx="7880223" cy="4820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280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Email-EuAll.txt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9314" y="1938097"/>
            <a:ext cx="7861663" cy="4850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21574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CA-GrQc.txt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0518" y="1690689"/>
            <a:ext cx="8283818" cy="5004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85035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577424"/>
            <a:ext cx="12192000" cy="1703152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xmlns="" id="{DD332D86-80B8-7485-1916-0651E4F7E4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4340" y="717822"/>
            <a:ext cx="11323319" cy="1325563"/>
          </a:xfrm>
        </p:spPr>
        <p:txBody>
          <a:bodyPr/>
          <a:lstStyle/>
          <a:p>
            <a:r>
              <a:rPr lang="ru-RU" dirty="0" smtClean="0"/>
              <a:t>Применение алгоритмов к тестовой выборке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89352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91724"/>
            <a:ext cx="12192000" cy="4310575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xmlns="" id="{DD332D86-80B8-7485-1916-0651E4F7E4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5335" y="137161"/>
            <a:ext cx="11323319" cy="1051560"/>
          </a:xfrm>
        </p:spPr>
        <p:txBody>
          <a:bodyPr/>
          <a:lstStyle/>
          <a:p>
            <a:r>
              <a:rPr lang="ru-RU" dirty="0" smtClean="0"/>
              <a:t>Применение алгоритмов к тестовой выборке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32473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C34633F-C91B-541D-1200-4A13B5E27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LCA -&gt; SC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C78DE2A6-BF81-811D-E750-BEB42ACBF1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172" y="2034922"/>
            <a:ext cx="10190628" cy="2788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5812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D332D86-80B8-7485-1916-0651E4F7E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работы алгоритмов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595DDE9D-F4EC-E2C3-DF82-D62DF8EBC0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57082"/>
            <a:ext cx="12176739" cy="1079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3236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DC7717E-779C-5EDC-5AF1-70F7B4975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BASIC, CA-</a:t>
            </a:r>
            <a:r>
              <a:rPr lang="en-US" dirty="0" err="1"/>
              <a:t>AstroPh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1BF730E2-4714-9AC7-011E-0F8DD6BD8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0688"/>
            <a:ext cx="12192000" cy="439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51938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74320BD-0033-9124-790E-39B1626E5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SC, CA-</a:t>
            </a:r>
            <a:r>
              <a:rPr lang="en-US" dirty="0" err="1"/>
              <a:t>AstroPh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3F6718B2-C299-F2A0-213C-A6F3B34F05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0688"/>
            <a:ext cx="9421091" cy="4451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5085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139B143-2F74-6EFD-29A5-6675EA49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BASIC, CA-</a:t>
            </a:r>
            <a:r>
              <a:rPr lang="en-US" dirty="0" err="1"/>
              <a:t>GrQc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B340F94B-8DEA-C82D-F3D8-45BA200B6D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55343"/>
            <a:ext cx="12192000" cy="4509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7200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43EB5D8-0360-0A5E-71C0-9FD900114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SC, CA-</a:t>
            </a:r>
            <a:r>
              <a:rPr lang="en-US" dirty="0" err="1"/>
              <a:t>GrQc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237ED81E-E8D0-A643-781C-7A09CAEFBA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69667"/>
            <a:ext cx="9975273" cy="4823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9615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61DC79B-37ED-1419-8B98-5114D0375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BASIC, Wiki-Vote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D67FDD20-627C-4586-A050-1A8A44F1C3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0688"/>
            <a:ext cx="12192000" cy="4376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58129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2933352-6A57-F911-5CF7-91270261A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SC, Wiki-Vote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1438ED8A-506F-9D64-76A3-FF287B97D9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0688"/>
            <a:ext cx="10335491" cy="4880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2077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B826CEC-7668-7AD9-3E10-324C91724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BASIC, graph_8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EDEB1195-F2D7-51CD-474F-D3D6FA475A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69624"/>
            <a:ext cx="12192000" cy="2790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4656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5ECD825-C439-7039-23E6-60350D21D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SC, graph_8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A3A29C8B-8522-B51D-F23A-C5AFDE628F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79694"/>
            <a:ext cx="12192000" cy="3233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67283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E75FED4-BA3D-0044-55EA-1518683CD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755813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DBFFA0D-F416-5165-C864-9DAC1A68A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285750" indent="-285750"/>
            <a:r>
              <a:rPr lang="ru-RU" dirty="0"/>
              <a:t>«Чем больше </a:t>
            </a:r>
            <a:r>
              <a:rPr lang="en-US" dirty="0"/>
              <a:t>k, </a:t>
            </a:r>
            <a:r>
              <a:rPr lang="ru-RU" dirty="0"/>
              <a:t>тем меньше ошибка</a:t>
            </a:r>
            <a:r>
              <a:rPr lang="en-US" dirty="0"/>
              <a:t>»</a:t>
            </a:r>
            <a:endParaRPr lang="ru-RU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0C203DB1-651F-A9A9-2A88-04DE924AFE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909" y="1227313"/>
            <a:ext cx="10206181" cy="5265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9803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C631C54-E4AC-D8A7-1B34-76236A6D6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«</a:t>
            </a:r>
            <a:r>
              <a:rPr lang="en-US" dirty="0"/>
              <a:t>random – </a:t>
            </a:r>
            <a:r>
              <a:rPr lang="ru-RU" dirty="0"/>
              <a:t>плохо, </a:t>
            </a:r>
            <a:r>
              <a:rPr lang="en-US" dirty="0"/>
              <a:t>highest deg ≈</a:t>
            </a:r>
            <a:r>
              <a:rPr lang="ru-RU" dirty="0"/>
              <a:t> </a:t>
            </a:r>
            <a:r>
              <a:rPr lang="en-US" dirty="0"/>
              <a:t>best </a:t>
            </a:r>
            <a:r>
              <a:rPr lang="en-US" dirty="0" err="1"/>
              <a:t>cov</a:t>
            </a:r>
            <a:r>
              <a:rPr lang="en-US" dirty="0"/>
              <a:t>.</a:t>
            </a:r>
            <a:r>
              <a:rPr lang="ru-RU" dirty="0"/>
              <a:t>»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927EBC07-599A-A784-1C4A-885CEE0BB6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18983"/>
            <a:ext cx="9885218" cy="5099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95841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BBA76AE-94FC-94B7-D83D-F37CE6249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«</a:t>
            </a:r>
            <a:r>
              <a:rPr lang="en-US" dirty="0"/>
              <a:t>SC </a:t>
            </a:r>
            <a:r>
              <a:rPr lang="ru-RU" dirty="0"/>
              <a:t>точнее, чем </a:t>
            </a:r>
            <a:r>
              <a:rPr lang="en-US" dirty="0"/>
              <a:t>BASIC</a:t>
            </a:r>
            <a:r>
              <a:rPr lang="ru-RU" dirty="0"/>
              <a:t>»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BBD84003-7E97-39E0-476A-2FE6AEE4F6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52358"/>
            <a:ext cx="10477697" cy="5405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7997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D1516AC-33EF-C906-D3C5-2848A8F78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Общие графики точности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466DC8DD-50B5-FCD4-56B0-C74DFD015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936" y="1273774"/>
            <a:ext cx="10116127" cy="5219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4604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AC25505-2F1F-03B1-90A1-04FAFA12A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«больше всего времени на подготовку</a:t>
            </a:r>
            <a:r>
              <a:rPr lang="en-US" dirty="0"/>
              <a:t/>
            </a:r>
            <a:br>
              <a:rPr lang="en-US" dirty="0"/>
            </a:br>
            <a:r>
              <a:rPr lang="en-US" dirty="0"/>
              <a:t>	</a:t>
            </a:r>
            <a:r>
              <a:rPr lang="ru-RU" dirty="0"/>
              <a:t>(</a:t>
            </a:r>
            <a:r>
              <a:rPr lang="en-US" dirty="0"/>
              <a:t>BFS -&gt; d(v, landmark)</a:t>
            </a:r>
            <a:r>
              <a:rPr lang="ru-RU" dirty="0"/>
              <a:t>»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CF845D17-27EC-8755-D41C-1921268F53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9581120" cy="4943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2434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55CFD76-7095-B563-9C4C-ED80BF88F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«больше всего времени на подготовку</a:t>
            </a:r>
            <a:r>
              <a:rPr lang="en-US" dirty="0"/>
              <a:t/>
            </a:r>
            <a:br>
              <a:rPr lang="en-US" dirty="0"/>
            </a:br>
            <a:r>
              <a:rPr lang="en-US" dirty="0"/>
              <a:t>	</a:t>
            </a:r>
            <a:r>
              <a:rPr lang="ru-RU" dirty="0"/>
              <a:t>(</a:t>
            </a:r>
            <a:r>
              <a:rPr lang="en-US" dirty="0"/>
              <a:t>SPT)</a:t>
            </a:r>
            <a:r>
              <a:rPr lang="ru-RU" dirty="0"/>
              <a:t>»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3059EA7E-7D40-7647-E892-8A766FF71D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690688"/>
            <a:ext cx="9963727" cy="5140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98461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462399C-D3D2-1C76-C99D-DE975D803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Общие графики</a:t>
            </a:r>
            <a:r>
              <a:rPr lang="en-US" dirty="0"/>
              <a:t> </a:t>
            </a:r>
            <a:r>
              <a:rPr lang="ru-RU" dirty="0"/>
              <a:t>времени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248234BF-D57F-D595-6233-0320370AF9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643" y="1373559"/>
            <a:ext cx="9922714" cy="5119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3571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</TotalTime>
  <Words>313</Words>
  <Application>Microsoft Office PowerPoint</Application>
  <PresentationFormat>Широкоэкранный</PresentationFormat>
  <Paragraphs>89</Paragraphs>
  <Slides>40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40</vt:i4>
      </vt:variant>
    </vt:vector>
  </HeadingPairs>
  <TitlesOfParts>
    <vt:vector size="44" baseType="lpstr">
      <vt:lpstr>Arial</vt:lpstr>
      <vt:lpstr>Calibri</vt:lpstr>
      <vt:lpstr>Calibri Light</vt:lpstr>
      <vt:lpstr>Office Theme</vt:lpstr>
      <vt:lpstr>“Теория графов и ее приложения”  Командный проект</vt:lpstr>
      <vt:lpstr>test_graph.txt</vt:lpstr>
      <vt:lpstr>Загрузка данных</vt:lpstr>
      <vt:lpstr>Анализ структуры сети</vt:lpstr>
      <vt:lpstr>Анализ структуры сети</vt:lpstr>
      <vt:lpstr>Анализ структуры сети</vt:lpstr>
      <vt:lpstr>Презентация PowerPoint</vt:lpstr>
      <vt:lpstr>Средний и глобальный кластерные коэффициенты</vt:lpstr>
      <vt:lpstr>Анализ структуры сети</vt:lpstr>
      <vt:lpstr>Анализ структуры сети</vt:lpstr>
      <vt:lpstr>Анализ структуры сети</vt:lpstr>
      <vt:lpstr>test_graph.txt</vt:lpstr>
      <vt:lpstr>CA-AstroPh.txt</vt:lpstr>
      <vt:lpstr>Email-EuAll.txt</vt:lpstr>
      <vt:lpstr>CA-GrQc.txt</vt:lpstr>
      <vt:lpstr>Анализ структуры сети</vt:lpstr>
      <vt:lpstr>test_graph.txt</vt:lpstr>
      <vt:lpstr>CA-AstroPh.txt</vt:lpstr>
      <vt:lpstr>Email-EuAll.txt</vt:lpstr>
      <vt:lpstr>CA-GrQc.txt</vt:lpstr>
      <vt:lpstr>Применение алгоритмов к тестовой выборке</vt:lpstr>
      <vt:lpstr>Применение алгоритмов к тестовой выборке</vt:lpstr>
      <vt:lpstr>LCA -&gt; SC</vt:lpstr>
      <vt:lpstr>Анализ работы алгоритмов</vt:lpstr>
      <vt:lpstr>BASIC, CA-AstroPh</vt:lpstr>
      <vt:lpstr>SC, CA-AstroPh</vt:lpstr>
      <vt:lpstr>BASIC, CA-GrQc</vt:lpstr>
      <vt:lpstr>SC, CA-GrQc</vt:lpstr>
      <vt:lpstr>BASIC, Wiki-Vote</vt:lpstr>
      <vt:lpstr>SC, Wiki-Vote</vt:lpstr>
      <vt:lpstr>BASIC, graph_8</vt:lpstr>
      <vt:lpstr>SC, graph_8</vt:lpstr>
      <vt:lpstr>Выводы</vt:lpstr>
      <vt:lpstr>«Чем больше k, тем меньше ошибка»</vt:lpstr>
      <vt:lpstr>«random – плохо, highest deg ≈ best cov.»</vt:lpstr>
      <vt:lpstr>«SC точнее, чем BASIC»</vt:lpstr>
      <vt:lpstr>Общие графики точности</vt:lpstr>
      <vt:lpstr>«больше всего времени на подготовку  (BFS -&gt; d(v, landmark)»</vt:lpstr>
      <vt:lpstr>«больше всего времени на подготовку  (SPT)»</vt:lpstr>
      <vt:lpstr>Общие графики времени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Danil Mikhaylov</dc:creator>
  <cp:lastModifiedBy>Учетная запись Майкрософт</cp:lastModifiedBy>
  <cp:revision>23</cp:revision>
  <dcterms:created xsi:type="dcterms:W3CDTF">2025-05-25T18:39:26Z</dcterms:created>
  <dcterms:modified xsi:type="dcterms:W3CDTF">2025-05-31T01:56:05Z</dcterms:modified>
</cp:coreProperties>
</file>